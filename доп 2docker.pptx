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перемещения страницы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0FFAFF3-32DC-4707-BB7C-E502651DC15E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4067C7-4463-4E79-AAAD-D42C40CEC48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489CBA-574F-41A9-82E8-F47AC4810D5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21295E-D36A-4C09-B5E3-D3776D6790C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8E719D-83AD-48CA-AD5B-39E17687F22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1DED75-687D-4FE6-A1C2-1840E8B603B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258012-8F56-42E6-812B-1497CCCAB94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A0D7C5-4725-407A-8373-BE12C6AAA6D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5EAA01-42F0-4232-B3CD-A36E3C0849C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591F59-1AA2-4751-A16F-6E768A11B35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03D045-82B4-4347-92FF-E418AFE5068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11B4F36-7F4A-4553-BD92-1A9EBB978DF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11B7B8-224A-4BCB-B9FF-9E9FC8C61CE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9BEF03-BD1C-4F9B-81FB-D6DDCB699D6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06D8378-A64B-4E0D-8BA1-D46637B8171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D5511F-9D20-4D04-A638-5B8435B5304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data:/var/lib/postgresql/data" TargetMode="External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hyperlink" Target="mailto:username@192.168.145.X" TargetMode="External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793800" y="65340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Dockerfile </a:t>
            </a:r>
            <a:endParaRPr b="0" lang="ru-RU" sz="44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Docker-compose</a:t>
            </a:r>
            <a:endParaRPr b="0" lang="ru-RU" sz="44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793800" y="3045960"/>
            <a:ext cx="7556040" cy="2190960"/>
          </a:xfrm>
          <a:prstGeom prst="roundRect">
            <a:avLst>
              <a:gd name="adj" fmla="val 1553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54" name="Text 3"/>
          <p:cNvSpPr/>
          <p:nvPr/>
        </p:nvSpPr>
        <p:spPr>
          <a:xfrm>
            <a:off x="1020600" y="32727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Что такое Docker?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020600" y="376344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Платформа для контейнеризации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6" name="Text 5"/>
          <p:cNvSpPr/>
          <p:nvPr/>
        </p:nvSpPr>
        <p:spPr>
          <a:xfrm>
            <a:off x="1020600" y="420552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Изоляция приложений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020600" y="464760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"Build once, run anywhere"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793800" y="5464080"/>
            <a:ext cx="7556040" cy="2111760"/>
          </a:xfrm>
          <a:prstGeom prst="roundRect">
            <a:avLst>
              <a:gd name="adj" fmla="val 1611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59" name="Text 8"/>
          <p:cNvSpPr/>
          <p:nvPr/>
        </p:nvSpPr>
        <p:spPr>
          <a:xfrm>
            <a:off x="1020600" y="5691240"/>
            <a:ext cx="32317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Основные компоненты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60" name="Text 9"/>
          <p:cNvSpPr/>
          <p:nvPr/>
        </p:nvSpPr>
        <p:spPr>
          <a:xfrm>
            <a:off x="1020600" y="618156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Dockerfile: инструкции для сборки образа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1020600" y="6623640"/>
            <a:ext cx="71024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docker-compose: оркестрация многоконтейнерных приложений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rcRect l="11911" t="3882" r="18974" b="0"/>
          <a:stretch/>
        </p:blipFill>
        <p:spPr>
          <a:xfrm>
            <a:off x="8820000" y="1800000"/>
            <a:ext cx="5219640" cy="27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9055080" y="4474800"/>
            <a:ext cx="5164920" cy="290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762840" y="599400"/>
            <a:ext cx="544824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349"/>
              </a:lnSpc>
              <a:tabLst>
                <a:tab algn="l" pos="0"/>
              </a:tabLst>
            </a:pPr>
            <a:r>
              <a:rPr b="0" lang="en-US" sz="42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Dockerfile</a:t>
            </a:r>
            <a:endParaRPr b="0" lang="ru-RU" sz="42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65" name="Text 1"/>
          <p:cNvSpPr/>
          <p:nvPr/>
        </p:nvSpPr>
        <p:spPr>
          <a:xfrm>
            <a:off x="762840" y="1607040"/>
            <a:ext cx="7618320" cy="10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Dockerfile — это текстовый файл с пошаговыми инструкциями для сборки Docker-образа. Каждая инструкция создает новый слой, обеспечивая эффективное кэширование.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762840" y="2898360"/>
            <a:ext cx="7618320" cy="2166120"/>
          </a:xfrm>
          <a:prstGeom prst="roundRect">
            <a:avLst>
              <a:gd name="adj" fmla="val 6753"/>
            </a:avLst>
          </a:prstGeom>
          <a:solidFill>
            <a:srgbClr val="fcfcfc"/>
          </a:solidFill>
          <a:ln w="3048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67" name="Shape 3"/>
          <p:cNvSpPr/>
          <p:nvPr/>
        </p:nvSpPr>
        <p:spPr>
          <a:xfrm>
            <a:off x="732240" y="2898360"/>
            <a:ext cx="121680" cy="2166120"/>
          </a:xfrm>
          <a:prstGeom prst="roundRect">
            <a:avLst>
              <a:gd name="adj" fmla="val 26815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68" name="Text 5"/>
          <p:cNvSpPr/>
          <p:nvPr/>
        </p:nvSpPr>
        <p:spPr>
          <a:xfrm>
            <a:off x="1102680" y="3150000"/>
            <a:ext cx="7030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701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Текстовый файл с инструкциями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69" name="Text 6"/>
          <p:cNvSpPr/>
          <p:nvPr/>
        </p:nvSpPr>
        <p:spPr>
          <a:xfrm>
            <a:off x="1102680" y="3791160"/>
            <a:ext cx="7030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701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Пошаговая сборка образа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70" name="Text 7"/>
          <p:cNvSpPr/>
          <p:nvPr/>
        </p:nvSpPr>
        <p:spPr>
          <a:xfrm>
            <a:off x="1102680" y="4467960"/>
            <a:ext cx="7030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701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Каждая инструкция = новый слой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762840" y="5283000"/>
            <a:ext cx="7618320" cy="2351520"/>
          </a:xfrm>
          <a:prstGeom prst="roundRect">
            <a:avLst>
              <a:gd name="adj" fmla="val 6221"/>
            </a:avLst>
          </a:prstGeom>
          <a:solidFill>
            <a:srgbClr val="fcfcfc"/>
          </a:solidFill>
          <a:ln w="30480">
            <a:solidFill>
              <a:srgbClr val="d6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732240" y="5283000"/>
            <a:ext cx="121680" cy="2351520"/>
          </a:xfrm>
          <a:prstGeom prst="roundRect">
            <a:avLst>
              <a:gd name="adj" fmla="val 26815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1102680" y="5531400"/>
            <a:ext cx="272376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Базовый синтаксис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1102680" y="6117120"/>
            <a:ext cx="7030080" cy="675000"/>
          </a:xfrm>
          <a:prstGeom prst="roundRect">
            <a:avLst>
              <a:gd name="adj" fmla="val 4840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75" name="Shape 12"/>
          <p:cNvSpPr/>
          <p:nvPr/>
        </p:nvSpPr>
        <p:spPr>
          <a:xfrm>
            <a:off x="1091520" y="6117120"/>
            <a:ext cx="7051680" cy="675000"/>
          </a:xfrm>
          <a:prstGeom prst="roundRect">
            <a:avLst>
              <a:gd name="adj" fmla="val 4840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1309680" y="6280200"/>
            <a:ext cx="6616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INSTRUCTION arguments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1102680" y="7037640"/>
            <a:ext cx="7030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Просто и понятно: каждая строка — это команда.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9720000" y="720000"/>
            <a:ext cx="4385160" cy="635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1"/>
          <p:cNvSpPr/>
          <p:nvPr/>
        </p:nvSpPr>
        <p:spPr>
          <a:xfrm>
            <a:off x="679320" y="4039920"/>
            <a:ext cx="1327104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Dockerfile использует ряд инструкций для определения процесса сборки образа. Они включают выбор </a:t>
            </a:r>
            <a:r>
              <a:rPr b="1" lang="en-US" sz="15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базового образа</a:t>
            </a:r>
            <a:r>
              <a:rPr b="0" lang="en-US" sz="15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, определение рабочей директории, копирование файлов, выполнение команд и настройку портов.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679320" y="4699800"/>
            <a:ext cx="13271040" cy="2465280"/>
          </a:xfrm>
          <a:prstGeom prst="roundRect">
            <a:avLst>
              <a:gd name="adj" fmla="val 1181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669960" y="4699800"/>
            <a:ext cx="13290480" cy="2465280"/>
          </a:xfrm>
          <a:prstGeom prst="roundRect">
            <a:avLst>
              <a:gd name="adj" fmla="val 1181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2" name="Text 4"/>
          <p:cNvSpPr/>
          <p:nvPr/>
        </p:nvSpPr>
        <p:spPr>
          <a:xfrm>
            <a:off x="864000" y="4845240"/>
            <a:ext cx="12902040" cy="21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FROM node:18-alpine          # Базовый образ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WORKDIR /app                 # Рабочая директория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COPY package*.json ./        # Копирование файлов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RUN npm install              # Выполнение команд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COPY . .                     # Копирование приложения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EXPOSE 3000                  # Открытие порта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CMD ["npm", "start"]         # Команда запуска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83" name="Text 5"/>
          <p:cNvSpPr/>
          <p:nvPr/>
        </p:nvSpPr>
        <p:spPr>
          <a:xfrm>
            <a:off x="679320" y="7383600"/>
            <a:ext cx="132710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Эти инструкции формируют основу любого Dockerfile.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3189960" y="0"/>
            <a:ext cx="8690040" cy="343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0"/>
          <p:cNvSpPr/>
          <p:nvPr/>
        </p:nvSpPr>
        <p:spPr>
          <a:xfrm>
            <a:off x="679320" y="3286080"/>
            <a:ext cx="7951320" cy="6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51"/>
              </a:lnSpc>
              <a:tabLst>
                <a:tab algn="l" pos="0"/>
              </a:tabLst>
            </a:pPr>
            <a:r>
              <a:rPr b="0" lang="en-US" sz="38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Основы Dockerfile</a:t>
            </a:r>
            <a:endParaRPr b="0" lang="ru-RU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18"/>
          <p:cNvSpPr/>
          <p:nvPr/>
        </p:nvSpPr>
        <p:spPr>
          <a:xfrm>
            <a:off x="679320" y="3859920"/>
            <a:ext cx="1327104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Базовый образ (родительский образ) в файле Dockerfile — это исходный слой (или слои) создаваемого образа. Он содержит минимальную ОС, на него накладываются дополнительные слои: установка языка программирования, добавление библиотек, копирование кода приложения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679320" y="4699800"/>
            <a:ext cx="13271040" cy="880200"/>
          </a:xfrm>
          <a:prstGeom prst="roundRect">
            <a:avLst>
              <a:gd name="adj" fmla="val 1181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669960" y="4699800"/>
            <a:ext cx="13290480" cy="1060200"/>
          </a:xfrm>
          <a:prstGeom prst="roundRect">
            <a:avLst>
              <a:gd name="adj" fmla="val 1181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9" name="Text 19"/>
          <p:cNvSpPr/>
          <p:nvPr/>
        </p:nvSpPr>
        <p:spPr>
          <a:xfrm>
            <a:off x="864000" y="4845240"/>
            <a:ext cx="12902040" cy="21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ts val="2401"/>
              </a:lnSpc>
              <a:buClr>
                <a:srgbClr val="61615c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1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с чистой операционной системой (например, Ubuntu, Debian, Alpine);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216000" indent="-216000">
              <a:lnSpc>
                <a:spcPts val="2401"/>
              </a:lnSpc>
              <a:buClr>
                <a:srgbClr val="61615c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1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с предустановленными программами (Nginx, Grafana, Prometheus, MySQL и др.).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768960" y="5940000"/>
            <a:ext cx="132710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Примеры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FROM ubuntu:18.04 — задаёт базовый образ Ubuntu 18.04. 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FROM python:3.7.2-alpine3.8 — в роли базового образа — официальный Python-образ с тегом 3.7.2-alpine3.8. 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679320" y="2962080"/>
            <a:ext cx="7951320" cy="6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51"/>
              </a:lnSpc>
              <a:tabLst>
                <a:tab algn="l" pos="0"/>
              </a:tabLst>
            </a:pPr>
            <a:r>
              <a:rPr b="0" lang="en-US" sz="38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Базовый образ</a:t>
            </a:r>
            <a:endParaRPr b="0" lang="ru-RU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7560000" y="293400"/>
            <a:ext cx="6613560" cy="3306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721800" y="567000"/>
            <a:ext cx="573480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051"/>
              </a:lnSpc>
              <a:tabLst>
                <a:tab algn="l" pos="0"/>
              </a:tabLst>
            </a:pPr>
            <a:r>
              <a:rPr b="0" lang="en-US" sz="40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Dockerfile для веб-приложения на базе node.js</a:t>
            </a:r>
            <a:endParaRPr b="0" lang="ru-RU" sz="4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94" name="Text 1"/>
          <p:cNvSpPr/>
          <p:nvPr/>
        </p:nvSpPr>
        <p:spPr>
          <a:xfrm>
            <a:off x="7574400" y="1706040"/>
            <a:ext cx="6341760" cy="13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Пример Dockerfile для Node.js приложения, оптимизированный для безопасности и производительности. Использует минимальный базовый образ и отдельного пользователя.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7574400" y="3257640"/>
            <a:ext cx="6341760" cy="3278160"/>
          </a:xfrm>
          <a:prstGeom prst="roundRect">
            <a:avLst>
              <a:gd name="adj" fmla="val 943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7563960" y="3257640"/>
            <a:ext cx="6362280" cy="4302360"/>
          </a:xfrm>
          <a:prstGeom prst="roundRect">
            <a:avLst>
              <a:gd name="adj" fmla="val 943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7" name="Text 4"/>
          <p:cNvSpPr/>
          <p:nvPr/>
        </p:nvSpPr>
        <p:spPr>
          <a:xfrm>
            <a:off x="7770240" y="3412080"/>
            <a:ext cx="5950080" cy="29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FROM node:18-alpine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WORKDIR /app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Копируем package.json отдельно для кэширования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COPY package*.json ./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RUN npm ci --only=production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Копируем исходный код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COPY . 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Создаем пользователя для безопасности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RUN adduser -D </a:t>
            </a:r>
            <a:r>
              <a:rPr b="1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myuser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USER </a:t>
            </a:r>
            <a:r>
              <a:rPr b="1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myuser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EXPOSE </a:t>
            </a:r>
            <a:r>
              <a:rPr b="1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3000 #порт приложения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CMD ["node", "server.js"]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687240" y="2950560"/>
            <a:ext cx="6152760" cy="2809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721800" y="567000"/>
            <a:ext cx="56314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051"/>
              </a:lnSpc>
              <a:tabLst>
                <a:tab algn="l" pos="0"/>
              </a:tabLst>
            </a:pPr>
            <a:r>
              <a:rPr b="0" lang="en-US" sz="40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Dockerfile для Python</a:t>
            </a:r>
            <a:endParaRPr b="0" lang="ru-RU" sz="4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721800" y="1706040"/>
            <a:ext cx="6341760" cy="13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Пример Dockerfile для Python-приложения, использующий slim-образ для уменьшения размера и кэширования зависимостей. Устанавливает переменные окружения для буферизации вывода.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721800" y="3257640"/>
            <a:ext cx="6341760" cy="2618280"/>
          </a:xfrm>
          <a:prstGeom prst="roundRect">
            <a:avLst>
              <a:gd name="adj" fmla="val 1181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711360" y="3257640"/>
            <a:ext cx="6362280" cy="3942360"/>
          </a:xfrm>
          <a:prstGeom prst="roundRect">
            <a:avLst>
              <a:gd name="adj" fmla="val 1181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917640" y="3412080"/>
            <a:ext cx="5950080" cy="23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FROM python:3.9-slim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WORKDIR /app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Копируем зависимости отдельно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COPY requirements.txt 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RUN pip install --no-cache-dir -r requirements.txt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Копируем приложение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COPY . 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Переменные окружения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ENV PYTHONUNBUFFERED=1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CMD ["python", "app.py"]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7668720" y="2205720"/>
            <a:ext cx="6551280" cy="373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6280200" y="726840"/>
            <a:ext cx="7398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docker-compose</a:t>
            </a:r>
            <a:endParaRPr b="0" lang="ru-RU" sz="44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6280200" y="1775880"/>
            <a:ext cx="75560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Docker Compose — это инструмент для определения и запуска многоконтейнерных приложений с помощью одного YAML-файла. Он упрощает управление сложными системами.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6280200" y="3119760"/>
            <a:ext cx="7556040" cy="4382280"/>
          </a:xfrm>
          <a:prstGeom prst="roundRect">
            <a:avLst>
              <a:gd name="adj" fmla="val 776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6280200" y="3119760"/>
            <a:ext cx="7556040" cy="2190960"/>
          </a:xfrm>
          <a:prstGeom prst="roundRect">
            <a:avLst>
              <a:gd name="adj" fmla="val 1553"/>
            </a:avLst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6507000" y="3346560"/>
            <a:ext cx="4038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Что такое docker-compose?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6507000" y="383688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Инструмент для многоконтейнерных приложений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6507000" y="427932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YAML файл конфигурации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6507000" y="472140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Упрощает управление сервисами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6280200" y="5311080"/>
            <a:ext cx="7556040" cy="2190960"/>
          </a:xfrm>
          <a:prstGeom prst="rect">
            <a:avLst/>
          </a:prstGeom>
          <a:solidFill>
            <a:srgbClr val="f0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6280200" y="5311080"/>
            <a:ext cx="7556040" cy="30240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6507000" y="55378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Преимущества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6507000" y="602820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Запуск одной командой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6507000" y="647064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Автоматические сети и тома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6507000" y="6912720"/>
            <a:ext cx="710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Управление зависимостями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180000" y="879120"/>
            <a:ext cx="6667200" cy="656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6"/>
          <p:cNvSpPr/>
          <p:nvPr/>
        </p:nvSpPr>
        <p:spPr>
          <a:xfrm>
            <a:off x="720000" y="720000"/>
            <a:ext cx="6400440" cy="7020000"/>
          </a:xfrm>
          <a:prstGeom prst="roundRect">
            <a:avLst>
              <a:gd name="adj" fmla="val 1181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900000" y="740880"/>
            <a:ext cx="6120000" cy="699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# КОММЕНТАРИИ - вот так, с решеткой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# Простые значения (скаляры)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name: "Vasya"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age: 25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is_student: true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salary: null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# Списки (массивы)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hobbies: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  - football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  - gaming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  - docker       # 😉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# Словари (объекты)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address: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  city: "Moscow"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  street: "Tverskaya"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  zip: 123456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# Многострочный текст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description: |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  Это многострочный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  текст, который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1750" strike="noStrike" u="none">
                <a:solidFill>
                  <a:srgbClr val="333333"/>
                </a:solidFill>
                <a:effectLst/>
                <a:uFillTx/>
                <a:latin typeface="Tahoma"/>
                <a:ea typeface="Tomorrow"/>
              </a:rPr>
              <a:t>  сохраняет переносы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9720000" y="360000"/>
            <a:ext cx="2340000" cy="23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"/>
          <p:cNvSpPr txBox="1"/>
          <p:nvPr/>
        </p:nvSpPr>
        <p:spPr>
          <a:xfrm>
            <a:off x="7843320" y="3060000"/>
            <a:ext cx="6016680" cy="174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ru-RU" sz="1800" strike="noStrike" u="none">
                <a:solidFill>
                  <a:srgbClr val="333333"/>
                </a:solidFill>
                <a:effectLst/>
                <a:uFillTx/>
                <a:latin typeface="Tahoma"/>
              </a:rPr>
              <a:t>YAML (YAML Ain't Markup Language) — человекочитаемый формат сериализации данных, концептуально близкий к языкам разметки, но ориентированный на удобство ввода-вывода типичных структур данных многих языков программирования </a:t>
            </a:r>
            <a:endParaRPr b="0" lang="ru-RU" sz="1800" strike="noStrike" u="none">
              <a:solidFill>
                <a:srgbClr val="333333"/>
              </a:solidFill>
              <a:effectLst/>
              <a:uFillTx/>
              <a:latin typeface="Tahoma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8100000" y="4893480"/>
            <a:ext cx="5714640" cy="266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0"/>
          <p:cNvSpPr/>
          <p:nvPr/>
        </p:nvSpPr>
        <p:spPr>
          <a:xfrm>
            <a:off x="6185160" y="570600"/>
            <a:ext cx="7745760" cy="12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901"/>
              </a:lnSpc>
              <a:tabLst>
                <a:tab algn="l" pos="0"/>
              </a:tabLst>
            </a:pPr>
            <a:r>
              <a:rPr b="0" lang="en-US" sz="39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Структура docker-compose.yml</a:t>
            </a:r>
            <a:endParaRPr b="0" lang="ru-RU" sz="39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6185160" y="2118240"/>
            <a:ext cx="77457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Файл docker-compose.yml описывает сервисы, сети и тома приложения. Он определяет, как компоненты взаимодействуют друг с другом.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6185160" y="2981880"/>
            <a:ext cx="7745760" cy="4132440"/>
          </a:xfrm>
          <a:prstGeom prst="roundRect">
            <a:avLst>
              <a:gd name="adj" fmla="val 725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6175440" y="2981880"/>
            <a:ext cx="7765560" cy="4398120"/>
          </a:xfrm>
          <a:prstGeom prst="roundRect">
            <a:avLst>
              <a:gd name="adj" fmla="val 725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6375240" y="3131640"/>
            <a:ext cx="7366320" cy="38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version: '3.8'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services: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web: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build: 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ports: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"3000:3000"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environment: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NODE_ENV=production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database: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image: postgres:13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environment: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POSTGRES_PASSWORD=secret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83480" y="379800"/>
            <a:ext cx="805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tabLst>
                <a:tab algn="l" pos="0"/>
              </a:tabLst>
            </a:pPr>
            <a:r>
              <a:rPr b="0" lang="en-US" sz="27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Пример docker-compose для веб-приложения</a:t>
            </a:r>
            <a:endParaRPr b="0" lang="ru-RU" sz="2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7491240" y="1143000"/>
            <a:ext cx="666288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Этот пример демонстрирует, как настроить многокомпонентное веб-приложение с фронтендом, бэкендом и базой данных, используя docker-compose.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7491240" y="1740240"/>
            <a:ext cx="6662880" cy="595224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7484400" y="1740240"/>
            <a:ext cx="6676920" cy="617976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7622640" y="1843920"/>
            <a:ext cx="6400440" cy="57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version: '3.8'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services: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frontend: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build: ./frontend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ports: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"80:3000"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depends_on: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backend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backend: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build: ./backend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ports: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"3001:3000"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environment: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DATABASE_URL=postgresql://user:pass@db:5432/app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depends_on: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db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db: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image: postgres:14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environment: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POSTGRES_DB: app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POSTGRES_USER: user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POSTGRES_PASSWORD: pass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volumes: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db_</a:t>
            </a: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  <a:hlinkClick r:id="rId1"/>
              </a:rPr>
              <a:t>data:/var/lib/postgresql/data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volumes: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db_data: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2"/>
          <a:srcRect l="21227" t="0" r="0" b="0"/>
          <a:stretch/>
        </p:blipFill>
        <p:spPr>
          <a:xfrm>
            <a:off x="276480" y="2700000"/>
            <a:ext cx="674352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2"/>
          <p:cNvSpPr/>
          <p:nvPr/>
        </p:nvSpPr>
        <p:spPr>
          <a:xfrm>
            <a:off x="483480" y="379800"/>
            <a:ext cx="805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tabLst>
                <a:tab algn="l" pos="0"/>
              </a:tabLst>
            </a:pPr>
            <a:r>
              <a:rPr b="0" lang="en-US" sz="27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Задача</a:t>
            </a:r>
            <a:endParaRPr b="0" lang="ru-RU" sz="2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38" name="Shape 14"/>
          <p:cNvSpPr/>
          <p:nvPr/>
        </p:nvSpPr>
        <p:spPr>
          <a:xfrm>
            <a:off x="523080" y="1080000"/>
            <a:ext cx="6676920" cy="216000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9" name="Text 23"/>
          <p:cNvSpPr/>
          <p:nvPr/>
        </p:nvSpPr>
        <p:spPr>
          <a:xfrm>
            <a:off x="619560" y="1260000"/>
            <a:ext cx="640044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my-simple-site/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├── docker-compose.yml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├── nginx/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│   └── nginx.conf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├── php/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│   └── Dockerfile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└── html/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└── index.php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7380720" y="540000"/>
            <a:ext cx="6839280" cy="713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Shape 13"/>
          <p:cNvSpPr/>
          <p:nvPr/>
        </p:nvSpPr>
        <p:spPr>
          <a:xfrm>
            <a:off x="523080" y="3600000"/>
            <a:ext cx="6676920" cy="270000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2" name="Text 22"/>
          <p:cNvSpPr/>
          <p:nvPr/>
        </p:nvSpPr>
        <p:spPr>
          <a:xfrm>
            <a:off x="720000" y="3780000"/>
            <a:ext cx="684000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apt install -y docker-compose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scp index.php </a:t>
            </a: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  <a:hlinkClick r:id="rId2"/>
              </a:rPr>
              <a:t>username@192.168.145.X</a:t>
            </a: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:/tmp/index.php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Где username – имя пользователя, а X – адрес вашей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Виртуалки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mkdir my-simple-site &amp;&amp; cd my-simple-site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mkdir nginx php html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mv /tmp/index.php html/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27"/>
          <p:cNvSpPr/>
          <p:nvPr/>
        </p:nvSpPr>
        <p:spPr>
          <a:xfrm>
            <a:off x="483480" y="379800"/>
            <a:ext cx="805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tabLst>
                <a:tab algn="l" pos="0"/>
              </a:tabLst>
            </a:pPr>
            <a:r>
              <a:rPr b="0" lang="en-US" sz="27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Задача</a:t>
            </a:r>
            <a:endParaRPr b="0" lang="ru-RU" sz="2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523080" y="1080000"/>
            <a:ext cx="6676920" cy="54000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5" name="Text 24"/>
          <p:cNvSpPr/>
          <p:nvPr/>
        </p:nvSpPr>
        <p:spPr>
          <a:xfrm>
            <a:off x="619560" y="1260000"/>
            <a:ext cx="640044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nano php/Dockerfile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46" name="Shape 16"/>
          <p:cNvSpPr/>
          <p:nvPr/>
        </p:nvSpPr>
        <p:spPr>
          <a:xfrm>
            <a:off x="523080" y="1800000"/>
            <a:ext cx="13696920" cy="486000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7" name="Text 25"/>
          <p:cNvSpPr/>
          <p:nvPr/>
        </p:nvSpPr>
        <p:spPr>
          <a:xfrm>
            <a:off x="619560" y="1980000"/>
            <a:ext cx="1332000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Берем официальный образ PHP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FROM php:8.2-fpm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Устанавливаем системные пакеты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RUN apt-get update &amp;&amp; apt-get install -y \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git \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curl \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&amp;&amp; rm -rf /var/lib/apt/lists/*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Создаем рабочую директорию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WORKDIR /var/www/html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Даем права www-data пользователю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RUN chown -R www-data:www-data /var/www/html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Говорим что используем порт 9000 (для PHP-FPM)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EXPOSE 9000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CMD ["php-fpm"]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26"/>
          <p:cNvSpPr/>
          <p:nvPr/>
        </p:nvSpPr>
        <p:spPr>
          <a:xfrm>
            <a:off x="483480" y="379800"/>
            <a:ext cx="805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tabLst>
                <a:tab algn="l" pos="0"/>
              </a:tabLst>
            </a:pPr>
            <a:r>
              <a:rPr b="0" lang="en-US" sz="27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Задача</a:t>
            </a:r>
            <a:endParaRPr b="0" lang="ru-RU" sz="2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523080" y="1080000"/>
            <a:ext cx="6676920" cy="54000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0" name="Text 28"/>
          <p:cNvSpPr/>
          <p:nvPr/>
        </p:nvSpPr>
        <p:spPr>
          <a:xfrm>
            <a:off x="619560" y="1260000"/>
            <a:ext cx="640044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nano nginx/nginx.conf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51" name="Shape 18"/>
          <p:cNvSpPr/>
          <p:nvPr/>
        </p:nvSpPr>
        <p:spPr>
          <a:xfrm>
            <a:off x="523080" y="1800000"/>
            <a:ext cx="13696920" cy="522000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2" name="Text 29"/>
          <p:cNvSpPr/>
          <p:nvPr/>
        </p:nvSpPr>
        <p:spPr>
          <a:xfrm>
            <a:off x="619560" y="1980000"/>
            <a:ext cx="13320000" cy="50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server {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listen 80;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server_name localhost;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root /var/www/html;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index index.php index.html;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location / {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  try_files $uri $uri/ /index.php?$query_string;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}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location ~ \.php$ {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  fastcgi_pass php:9000;    # Связь с PHP контейнером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  fastcgi_index index.php;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  fastcgi_param SCRIPT_FILENAME $document_root$fastcgi_script_name;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  include fastcgi_params;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}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# Статические файлы (необязательная директива)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location ~* \.(js|css|png|jpg|jpeg|gif|ico)$ {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  expires 1y;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  add_header Cache-Control "public, immutable";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}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}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30"/>
          <p:cNvSpPr/>
          <p:nvPr/>
        </p:nvSpPr>
        <p:spPr>
          <a:xfrm>
            <a:off x="483480" y="379800"/>
            <a:ext cx="805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tabLst>
                <a:tab algn="l" pos="0"/>
              </a:tabLst>
            </a:pPr>
            <a:r>
              <a:rPr b="0" lang="en-US" sz="27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Задача</a:t>
            </a:r>
            <a:endParaRPr b="0" lang="ru-RU" sz="2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54" name="Shape 19"/>
          <p:cNvSpPr/>
          <p:nvPr/>
        </p:nvSpPr>
        <p:spPr>
          <a:xfrm>
            <a:off x="523080" y="1080000"/>
            <a:ext cx="6676920" cy="54000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5" name="Text 31"/>
          <p:cNvSpPr/>
          <p:nvPr/>
        </p:nvSpPr>
        <p:spPr>
          <a:xfrm>
            <a:off x="619560" y="1260000"/>
            <a:ext cx="640044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nano docker-compose.yml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56" name="Shape 20"/>
          <p:cNvSpPr/>
          <p:nvPr/>
        </p:nvSpPr>
        <p:spPr>
          <a:xfrm>
            <a:off x="1980000" y="1800000"/>
            <a:ext cx="12240000" cy="630000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7" name="Text 32"/>
          <p:cNvSpPr/>
          <p:nvPr/>
        </p:nvSpPr>
        <p:spPr>
          <a:xfrm>
            <a:off x="2167560" y="1980000"/>
            <a:ext cx="11152440" cy="50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version: '3.8'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services: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# PHP-FPM сервис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php: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build: ./php                    # Собираем из Dockerfile в папке php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volumes: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./html:/var/www/html        # Монтируем страницы веба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networks: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app-network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# Nginx сервис 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nginx: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image: nginx:alpine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ports: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"8080:80"                   # Открываем порт 8080 на хосте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volumes: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./html:/var/www/html        # страницы веба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./nginx/nginx.conf:/etc/nginx/conf.d/default.conf  # Конфигурация nginx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depends_on: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php                         # Ждать пока </a:t>
            </a: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запустится </a:t>
            </a: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PHP 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networks: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  - app-network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# Сеть для связи между контейнерами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networks: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app-network: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    driver: bridge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9900000" y="1792800"/>
            <a:ext cx="4260240" cy="54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000" strike="noStrike" u="none">
                <a:solidFill>
                  <a:srgbClr val="333333"/>
                </a:solidFill>
                <a:effectLst/>
                <a:uFillTx/>
                <a:latin typeface="Tahoma"/>
              </a:rPr>
              <a:t>Версия формата файла docker-compose.yml (Docker Compose) указывается в начале файла. Это влияет на то, какие функции и конфигурации доступны.  </a:t>
            </a:r>
            <a:endParaRPr b="0" lang="ru-RU" sz="1000" strike="noStrike" u="none">
              <a:solidFill>
                <a:srgbClr val="333333"/>
              </a:solidFill>
              <a:effectLst/>
              <a:uFillTx/>
              <a:latin typeface="Tahoma"/>
            </a:endParaRPr>
          </a:p>
        </p:txBody>
      </p:sp>
      <p:sp>
        <p:nvSpPr>
          <p:cNvPr id="159" name=""/>
          <p:cNvSpPr/>
          <p:nvPr/>
        </p:nvSpPr>
        <p:spPr>
          <a:xfrm flipH="1">
            <a:off x="3960000" y="2052000"/>
            <a:ext cx="59400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60" name=""/>
          <p:cNvSpPr/>
          <p:nvPr/>
        </p:nvSpPr>
        <p:spPr>
          <a:xfrm>
            <a:off x="1440000" y="1980000"/>
            <a:ext cx="360000" cy="5940000"/>
          </a:xfrm>
          <a:custGeom>
            <a:avLst/>
            <a:gdLst>
              <a:gd name="textAreaLeft" fmla="*/ 230040 w 360000"/>
              <a:gd name="textAreaRight" fmla="*/ 360360 w 360000"/>
              <a:gd name="textAreaTop" fmla="*/ 154800 h 5940000"/>
              <a:gd name="textAreaBottom" fmla="*/ 5785200 h 59400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8639"/>
                </a:lnTo>
                <a:cubicBezTo>
                  <a:pt x="10800" y="9539"/>
                  <a:pt x="5400" y="10439"/>
                  <a:pt x="0" y="10439"/>
                </a:cubicBezTo>
                <a:cubicBezTo>
                  <a:pt x="5400" y="10439"/>
                  <a:pt x="10800" y="11339"/>
                  <a:pt x="10800" y="12239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-300240" y="4320000"/>
            <a:ext cx="2280240" cy="105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907"/>
              </a:spcBef>
            </a:pPr>
            <a:r>
              <a:rPr b="1" lang="ru-RU" sz="1600" strike="noStrike" u="none">
                <a:solidFill>
                  <a:srgbClr val="333333"/>
                </a:solidFill>
                <a:effectLst/>
                <a:uFillTx/>
                <a:latin typeface="Tahoma"/>
              </a:rPr>
              <a:t>Соблюдение</a:t>
            </a:r>
            <a:endParaRPr b="1" lang="ru-RU" sz="1600" strike="noStrike" u="none">
              <a:solidFill>
                <a:srgbClr val="333333"/>
              </a:solidFill>
              <a:effectLst/>
              <a:uFillTx/>
              <a:latin typeface="Tahoma"/>
              <a:ea typeface="Microsoft YaHei"/>
            </a:endParaRPr>
          </a:p>
          <a:p>
            <a:pPr algn="ctr">
              <a:lnSpc>
                <a:spcPct val="100000"/>
              </a:lnSpc>
              <a:spcBef>
                <a:spcPts val="907"/>
              </a:spcBef>
            </a:pPr>
            <a:r>
              <a:rPr b="1" lang="ru-RU" sz="1600" strike="noStrike" u="none">
                <a:solidFill>
                  <a:srgbClr val="333333"/>
                </a:solidFill>
                <a:effectLst/>
                <a:uFillTx/>
                <a:latin typeface="Tahoma"/>
              </a:rPr>
              <a:t> табуляции </a:t>
            </a:r>
            <a:endParaRPr b="1" lang="ru-RU" sz="1600" strike="noStrike" u="none">
              <a:solidFill>
                <a:srgbClr val="333333"/>
              </a:solidFill>
              <a:effectLst/>
              <a:uFillTx/>
              <a:latin typeface="Tahoma"/>
              <a:ea typeface="Microsoft YaHei"/>
            </a:endParaRPr>
          </a:p>
          <a:p>
            <a:pPr algn="ctr">
              <a:lnSpc>
                <a:spcPct val="100000"/>
              </a:lnSpc>
              <a:spcBef>
                <a:spcPts val="907"/>
              </a:spcBef>
            </a:pPr>
            <a:r>
              <a:rPr b="1" lang="ru-RU" sz="1600" strike="noStrike" u="none">
                <a:solidFill>
                  <a:srgbClr val="333333"/>
                </a:solidFill>
                <a:effectLst/>
                <a:uFillTx/>
                <a:latin typeface="Tahoma"/>
              </a:rPr>
              <a:t>обязательно!</a:t>
            </a:r>
            <a:endParaRPr b="1" lang="ru-RU" sz="1600" strike="noStrike" u="none">
              <a:solidFill>
                <a:srgbClr val="333333"/>
              </a:solidFill>
              <a:effectLst/>
              <a:uFillTx/>
              <a:latin typeface="Tahoma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33"/>
          <p:cNvSpPr/>
          <p:nvPr/>
        </p:nvSpPr>
        <p:spPr>
          <a:xfrm>
            <a:off x="483480" y="379800"/>
            <a:ext cx="8056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tabLst>
                <a:tab algn="l" pos="0"/>
              </a:tabLst>
            </a:pPr>
            <a:r>
              <a:rPr b="0" lang="en-US" sz="27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Запуск </a:t>
            </a:r>
            <a:endParaRPr b="0" lang="ru-RU" sz="27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63" name="Shape 21"/>
          <p:cNvSpPr/>
          <p:nvPr/>
        </p:nvSpPr>
        <p:spPr>
          <a:xfrm>
            <a:off x="523080" y="1080000"/>
            <a:ext cx="13696920" cy="72000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64" name="Text 34"/>
          <p:cNvSpPr/>
          <p:nvPr/>
        </p:nvSpPr>
        <p:spPr>
          <a:xfrm>
            <a:off x="619560" y="1260000"/>
            <a:ext cx="1360044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docker-compose up -d     - запуск в фоновом режиме. Без -d отображает всю информацию и может быть завершен из консоли через ctrl+c\z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65" name="Shape 22"/>
          <p:cNvSpPr/>
          <p:nvPr/>
        </p:nvSpPr>
        <p:spPr>
          <a:xfrm>
            <a:off x="523080" y="2340000"/>
            <a:ext cx="13696920" cy="900000"/>
          </a:xfrm>
          <a:prstGeom prst="roundRect">
            <a:avLst>
              <a:gd name="adj" fmla="val 348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66" name="Text 35"/>
          <p:cNvSpPr/>
          <p:nvPr/>
        </p:nvSpPr>
        <p:spPr>
          <a:xfrm>
            <a:off x="720000" y="2520000"/>
            <a:ext cx="1332000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Проверка в браузере по адресу 192.168.145.N:8080, где N  - ваш ip адрес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540000" y="720000"/>
            <a:ext cx="652104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0" lang="en-US" sz="3800" strike="noStrike" u="none">
                <a:solidFill>
                  <a:srgbClr val="1d1d1b"/>
                </a:solidFill>
                <a:effectLst/>
                <a:uFillTx/>
                <a:latin typeface="Tomorrow Semi Bold"/>
                <a:ea typeface="Tomorrow Semi Bold"/>
              </a:rPr>
              <a:t>Полезные команды Docker</a:t>
            </a:r>
            <a:endParaRPr b="0" lang="ru-RU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540000" y="1624320"/>
            <a:ext cx="13140000" cy="62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Эффективное использование Docker и Docker Compose требует знания ключевых команд для сборки, запуска, остановки и мониторинга контейнеров.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69" name="Shape 2"/>
          <p:cNvSpPr/>
          <p:nvPr/>
        </p:nvSpPr>
        <p:spPr>
          <a:xfrm>
            <a:off x="540000" y="2763000"/>
            <a:ext cx="7775280" cy="1838520"/>
          </a:xfrm>
          <a:prstGeom prst="roundRect">
            <a:avLst>
              <a:gd name="adj" fmla="val 5967"/>
            </a:avLst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540000" y="2739960"/>
            <a:ext cx="12960000" cy="91080"/>
          </a:xfrm>
          <a:prstGeom prst="roundRect">
            <a:avLst>
              <a:gd name="adj" fmla="val 32073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71" name="Shape 4"/>
          <p:cNvSpPr/>
          <p:nvPr/>
        </p:nvSpPr>
        <p:spPr>
          <a:xfrm>
            <a:off x="4134240" y="2469600"/>
            <a:ext cx="586080" cy="586080"/>
          </a:xfrm>
          <a:prstGeom prst="roundRect">
            <a:avLst>
              <a:gd name="adj" fmla="val 155907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4310280" y="2616120"/>
            <a:ext cx="234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5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omorrow Semi Bold"/>
                <a:ea typeface="Tomorrow Semi Bold"/>
              </a:rPr>
              <a:t>1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758160" y="3251520"/>
            <a:ext cx="24436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Dockerfile</a:t>
            </a:r>
            <a:endParaRPr b="0" lang="ru-RU" sz="19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758160" y="3674520"/>
            <a:ext cx="73382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docker build -t my-app .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758160" y="4063320"/>
            <a:ext cx="73382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docker run -p 3000:3000 my-app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76" name="Shape 9"/>
          <p:cNvSpPr/>
          <p:nvPr/>
        </p:nvSpPr>
        <p:spPr>
          <a:xfrm>
            <a:off x="540000" y="5090760"/>
            <a:ext cx="7775280" cy="2608560"/>
          </a:xfrm>
          <a:prstGeom prst="roundRect">
            <a:avLst>
              <a:gd name="adj" fmla="val 4206"/>
            </a:avLst>
          </a:prstGeom>
          <a:solidFill>
            <a:srgbClr val="fcf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77" name="Shape 10"/>
          <p:cNvSpPr/>
          <p:nvPr/>
        </p:nvSpPr>
        <p:spPr>
          <a:xfrm>
            <a:off x="540000" y="5067720"/>
            <a:ext cx="12960000" cy="91080"/>
          </a:xfrm>
          <a:prstGeom prst="roundRect">
            <a:avLst>
              <a:gd name="adj" fmla="val 32073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78" name="Shape 11"/>
          <p:cNvSpPr/>
          <p:nvPr/>
        </p:nvSpPr>
        <p:spPr>
          <a:xfrm>
            <a:off x="4134240" y="4797360"/>
            <a:ext cx="586080" cy="586080"/>
          </a:xfrm>
          <a:prstGeom prst="roundRect">
            <a:avLst>
              <a:gd name="adj" fmla="val 155907"/>
            </a:avLst>
          </a:prstGeom>
          <a:solidFill>
            <a:srgbClr val="1d1d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4310280" y="4943880"/>
            <a:ext cx="234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5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omorrow Semi Bold"/>
                <a:ea typeface="Tomorrow Semi Bold"/>
              </a:rPr>
              <a:t>2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758160" y="5579280"/>
            <a:ext cx="24436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1615c"/>
                </a:solidFill>
                <a:effectLst/>
                <a:uFillTx/>
                <a:latin typeface="Tomorrow Semi Bold"/>
                <a:ea typeface="Tomorrow Semi Bold"/>
              </a:rPr>
              <a:t>Docker Compose</a:t>
            </a:r>
            <a:endParaRPr b="0" lang="ru-RU" sz="19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758160" y="6002280"/>
            <a:ext cx="73382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docker-compose up -d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82" name="Text 15"/>
          <p:cNvSpPr/>
          <p:nvPr/>
        </p:nvSpPr>
        <p:spPr>
          <a:xfrm>
            <a:off x="758160" y="6391080"/>
            <a:ext cx="73382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docker-compose down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83" name="Text 16"/>
          <p:cNvSpPr/>
          <p:nvPr/>
        </p:nvSpPr>
        <p:spPr>
          <a:xfrm>
            <a:off x="758160" y="6779520"/>
            <a:ext cx="73382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61615c"/>
                </a:solidFill>
                <a:effectLst/>
                <a:highlight>
                  <a:srgbClr val="efefef"/>
                </a:highlight>
                <a:uFillTx/>
                <a:latin typeface="Consolas"/>
                <a:ea typeface="Consolas"/>
              </a:rPr>
              <a:t>docker-compose logs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84" name="Text 17"/>
          <p:cNvSpPr/>
          <p:nvPr/>
        </p:nvSpPr>
        <p:spPr>
          <a:xfrm>
            <a:off x="758160" y="7168320"/>
            <a:ext cx="733824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61615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61615c"/>
                </a:solidFill>
                <a:effectLst/>
                <a:uFillTx/>
                <a:latin typeface="Tomorrow"/>
                <a:ea typeface="Tomorrow"/>
              </a:rPr>
              <a:t>docker-compose build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 txBox="1"/>
          <p:nvPr/>
        </p:nvSpPr>
        <p:spPr>
          <a:xfrm>
            <a:off x="360000" y="1785960"/>
            <a:ext cx="8314200" cy="433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✅ ДЕЛАЕМ ТАК: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• Используем .dockerignore (как .gitignore)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• Многоступенчатые сборки для минимизации образов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• Один процесс на контейнер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• Alpine образы где можно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• HEALTHCHECK 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❌ НЕ ДЕЛАЕМ ТАК: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• Не храним секреты в образах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• Не используем :latest тег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• Не запускаем от root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61615c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• Не забываем про логи </a:t>
            </a:r>
            <a:endParaRPr b="0" lang="ru-RU" sz="21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6660000" y="2880000"/>
            <a:ext cx="7695360" cy="34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LibreOffice/25.2.6.2$Windows_X86_64 LibreOffice_project/729c5bfe710f5eb71ed3bbde9e06a6065e9c6c5d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2025-11-28T17:26:56Z</dcterms:created>
  <dc:creator/>
  <dc:description/>
  <dc:language>ru-RU</dc:language>
  <cp:lastModifiedBy/>
  <dcterms:modified xsi:type="dcterms:W3CDTF">2025-11-28T23:48:30Z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